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páginas 146–149..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páginas 146–149 (contexto do componente)..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páginas 146–149 (competências e bases tecnológicas)..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páginas 147–148 (bases tecnológicas: redes, segurança e IoT)..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 146 (competências profissionais e habilidades)..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páginas 146–149 (ênfase em prática e habilidades)..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 147 (Ferramenta de apoio: Arduino IDE, Tinkercad; e laboratório de ferramentas de rede)..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páginas 146–148 (protótipos IoT e aplicação de tecnologias)..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páginas 147–148 (ameaças, mecanismos de segurança, LGPD, HTTPS/TLS)..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páginas 146–149 (competências, habilidades e prática profissional)..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páginas 146–149 (conteúdos: redes, segurança e IoT)..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Centro Paula Souza (Governo do Estado de São Paulo). 'Introdução à Internet das Coisas, Redes de Computadores e Segurança da Informação' (plano/ementa). Ver PDF fornecido: páginas 147–149 (bases tecnológicas e ferramentas)..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1143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822960" y="160020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DAS COISAS</a:t>
            </a:r>
            <a:endParaRPr lang="en-US" sz="4400" dirty="0"/>
          </a:p>
        </p:txBody>
      </p:sp>
      <p:sp>
        <p:nvSpPr>
          <p:cNvPr id="42" name="Text 40"/>
          <p:cNvSpPr/>
          <p:nvPr/>
        </p:nvSpPr>
        <p:spPr>
          <a:xfrm>
            <a:off x="822960" y="2331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• SEGURANÇA • PROJETOS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22960" y="3017520"/>
            <a:ext cx="6309360" cy="96012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97280" y="32461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• Visão geral da disciplina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97280" y="354787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Márcio Barros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854696" y="1938528"/>
            <a:ext cx="537667" cy="1280160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92363" y="3218688"/>
            <a:ext cx="-358445" cy="1382573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54696" y="1938528"/>
            <a:ext cx="985723" cy="-102413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40419" y="1836115"/>
            <a:ext cx="537667" cy="1126541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78086" y="2962656"/>
            <a:ext cx="-268834" cy="1536192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40419" y="1836115"/>
            <a:ext cx="1164946" cy="204826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05365" y="2040941"/>
            <a:ext cx="537667" cy="1024128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43032" y="3065069"/>
            <a:ext cx="-358445" cy="1536192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543032" y="3065069"/>
            <a:ext cx="537667" cy="-614477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080699" y="2450592"/>
            <a:ext cx="358445" cy="1280160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84587" y="4601261"/>
            <a:ext cx="716890" cy="307238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09253" y="4498848"/>
            <a:ext cx="1075334" cy="102413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78086" y="2962656"/>
            <a:ext cx="1164946" cy="102413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44968" y="1828800"/>
            <a:ext cx="219456" cy="219456"/>
          </a:xfrm>
          <a:prstGeom prst="ellipse">
            <a:avLst/>
          </a:prstGeom>
          <a:solidFill>
            <a:srgbClr val="00E5FF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310067" y="3136392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951622" y="4518965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730691" y="1726387"/>
            <a:ext cx="219456" cy="219456"/>
          </a:xfrm>
          <a:prstGeom prst="ellipse">
            <a:avLst/>
          </a:prstGeom>
          <a:solidFill>
            <a:srgbClr val="00E5FF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295790" y="2880360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026957" y="4416552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895637" y="1931213"/>
            <a:ext cx="219456" cy="219456"/>
          </a:xfrm>
          <a:prstGeom prst="ellipse">
            <a:avLst/>
          </a:prstGeom>
          <a:solidFill>
            <a:srgbClr val="00E5FF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0460736" y="2982773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0102291" y="4518965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0970971" y="2340864"/>
            <a:ext cx="219456" cy="219456"/>
          </a:xfrm>
          <a:prstGeom prst="ellipse">
            <a:avLst/>
          </a:prstGeom>
          <a:solidFill>
            <a:srgbClr val="00E5FF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1356848" y="3648456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0819181" y="4826203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9052560" y="5440680"/>
            <a:ext cx="640080" cy="640080"/>
          </a:xfrm>
          <a:prstGeom prst="roundRect">
            <a:avLst/>
          </a:prstGeom>
          <a:solidFill>
            <a:srgbClr val="0F1A2B"/>
          </a:solidFill>
          <a:ln w="25400">
            <a:solidFill>
              <a:srgbClr val="38D99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93378" y="5581498"/>
            <a:ext cx="358445" cy="358445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38D996">
                <a:alpha val="8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54973" y="5390754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154973" y="6053877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02634" y="5543093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65757" y="5543093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57386" y="5390754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257386" y="6053877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002634" y="5645506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665757" y="5645506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59798" y="5390754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359798" y="6053877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002634" y="5747918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665757" y="5747918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462211" y="5390754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462211" y="6053877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002634" y="5850331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65757" y="5850331"/>
            <a:ext cx="76810" cy="7681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875520" y="5440680"/>
            <a:ext cx="640080" cy="640080"/>
          </a:xfrm>
          <a:prstGeom prst="roundRect">
            <a:avLst/>
          </a:prstGeom>
          <a:solidFill>
            <a:srgbClr val="0F1A2B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016338" y="5581498"/>
            <a:ext cx="358445" cy="358445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977933" y="5390754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977933" y="6053877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25594" y="5543093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488717" y="5543093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080346" y="5390754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080346" y="6053877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825594" y="5645506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488717" y="5645506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182758" y="5390754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182758" y="6053877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825594" y="5747918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488717" y="5747918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285171" y="5390754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285171" y="6053877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825594" y="5850331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488717" y="5850331"/>
            <a:ext cx="76810" cy="7681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698480" y="5440680"/>
            <a:ext cx="640080" cy="640080"/>
          </a:xfrm>
          <a:prstGeom prst="roundRect">
            <a:avLst/>
          </a:prstGeom>
          <a:solidFill>
            <a:srgbClr val="0F1A2B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839298" y="5581498"/>
            <a:ext cx="358445" cy="358445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00E5FF">
                <a:alpha val="85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800893" y="5390754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800893" y="6053877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648554" y="5543093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311677" y="5543093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903306" y="5390754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903306" y="6053877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648554" y="5645506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1311677" y="5645506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1005718" y="5390754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005718" y="6053877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648554" y="5747918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311677" y="5747918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1108131" y="5390754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1108131" y="6053877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648554" y="5850331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1311677" y="5850331"/>
            <a:ext cx="76810" cy="7681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73152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73152"/>
            <a:ext cx="116796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• Por que estamos aqui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123444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dispositivos conectados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usou hoje?</a:t>
            </a:r>
            <a:endParaRPr lang="en-US" sz="4400" dirty="0"/>
          </a:p>
        </p:txBody>
      </p:sp>
      <p:sp>
        <p:nvSpPr>
          <p:cNvPr id="44" name="Shape 42"/>
          <p:cNvSpPr/>
          <p:nvPr/>
        </p:nvSpPr>
        <p:spPr>
          <a:xfrm>
            <a:off x="822960" y="3383280"/>
            <a:ext cx="6949440" cy="146304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361188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você já usou rede, protocolos e segurança —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sem perceber.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143000" y="437083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vive dentro de uma rede.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8686800" y="2066544"/>
            <a:ext cx="438912" cy="1325880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25712" y="3392424"/>
            <a:ext cx="-292608" cy="1431950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0" y="2066544"/>
            <a:ext cx="804672" cy="-106070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91472" y="1960474"/>
            <a:ext cx="438912" cy="1166774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30384" y="3127248"/>
            <a:ext cx="-219456" cy="1591056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91472" y="1960474"/>
            <a:ext cx="950976" cy="212141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442448" y="2172614"/>
            <a:ext cx="438912" cy="1060704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81360" y="3233318"/>
            <a:ext cx="-292608" cy="1591056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881360" y="3233318"/>
            <a:ext cx="438912" cy="-636422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320272" y="2596896"/>
            <a:ext cx="292608" cy="1325880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88752" y="4824374"/>
            <a:ext cx="585216" cy="318211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10928" y="4718304"/>
            <a:ext cx="877824" cy="106070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930384" y="3127248"/>
            <a:ext cx="950976" cy="106070"/>
          </a:xfrm>
          <a:prstGeom prst="line">
            <a:avLst/>
          </a:prstGeom>
          <a:noFill/>
          <a:ln w="254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77072" y="1956816"/>
            <a:ext cx="219456" cy="219456"/>
          </a:xfrm>
          <a:prstGeom prst="ellipse">
            <a:avLst/>
          </a:prstGeom>
          <a:solidFill>
            <a:srgbClr val="A78BFA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043416" y="3310128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750808" y="4742078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381744" y="1850746"/>
            <a:ext cx="219456" cy="219456"/>
          </a:xfrm>
          <a:prstGeom prst="ellipse">
            <a:avLst/>
          </a:prstGeom>
          <a:solidFill>
            <a:srgbClr val="A78BFA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848088" y="3044952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628632" y="4636008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0332720" y="2062886"/>
            <a:ext cx="219456" cy="219456"/>
          </a:xfrm>
          <a:prstGeom prst="ellipse">
            <a:avLst/>
          </a:prstGeom>
          <a:solidFill>
            <a:srgbClr val="A78BFA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0799064" y="3151022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0506456" y="4742078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1210544" y="2487168"/>
            <a:ext cx="219456" cy="219456"/>
          </a:xfrm>
          <a:prstGeom prst="ellipse">
            <a:avLst/>
          </a:prstGeom>
          <a:solidFill>
            <a:srgbClr val="A78BFA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1530584" y="3840480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1091672" y="5060290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150589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73152" cy="384048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73152"/>
            <a:ext cx="116796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• Relevância no mundo real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960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importa?</a:t>
            </a:r>
            <a:endParaRPr lang="en-US" sz="4400" dirty="0"/>
          </a:p>
        </p:txBody>
      </p:sp>
      <p:sp>
        <p:nvSpPr>
          <p:cNvPr id="44" name="Shape 42"/>
          <p:cNvSpPr/>
          <p:nvPr/>
        </p:nvSpPr>
        <p:spPr>
          <a:xfrm>
            <a:off x="777240" y="1874520"/>
            <a:ext cx="3429000" cy="356616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77240" y="1874520"/>
            <a:ext cx="109728" cy="35661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3272" y="2130552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106424" y="2606040"/>
            <a:ext cx="291693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vira dado: sensores, apps e serviços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digital é “energia” do século XXI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26280" y="1874520"/>
            <a:ext cx="3429000" cy="356616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26280" y="1874520"/>
            <a:ext cx="109728" cy="356616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2130552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855464" y="2606040"/>
            <a:ext cx="291693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Vazamento, fraude e indisponibilidade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e LGPD entram no jogo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75320" y="1874520"/>
            <a:ext cx="3429000" cy="356616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275320" y="1874520"/>
            <a:ext cx="109728" cy="356616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31352" y="2130552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8604504" y="2606040"/>
            <a:ext cx="291693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Automação, monitoramento e eficiência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com impacto real no mundo físico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2960" y="5760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entender • construir • proteger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50589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73152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73152"/>
            <a:ext cx="116796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• Mapa da disciplina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pilares do curso</a:t>
            </a:r>
            <a:endParaRPr lang="en-US" sz="4000" dirty="0"/>
          </a:p>
        </p:txBody>
      </p:sp>
      <p:sp>
        <p:nvSpPr>
          <p:cNvPr id="44" name="Shape 42"/>
          <p:cNvSpPr/>
          <p:nvPr/>
        </p:nvSpPr>
        <p:spPr>
          <a:xfrm>
            <a:off x="960120" y="1828800"/>
            <a:ext cx="0" cy="4297680"/>
          </a:xfrm>
          <a:prstGeom prst="line">
            <a:avLst/>
          </a:prstGeom>
          <a:noFill/>
          <a:ln w="76200">
            <a:solidFill>
              <a:srgbClr val="00E5FF">
                <a:alpha val="8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25880" y="1920240"/>
            <a:ext cx="10058400" cy="114300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08760" y="21396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REDES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834640" y="208483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dados trafegam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2834640" y="254203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• modelos OSI/TCP-IP • protocolos • diagnóstico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325880" y="1920240"/>
            <a:ext cx="109728" cy="1143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25880" y="3474720"/>
            <a:ext cx="10058400" cy="114300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08760" y="36941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834640" y="363931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proteger dados e sistemas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2834640" y="409651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 • controles • autenticação • criptografia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325880" y="3474720"/>
            <a:ext cx="109728" cy="114300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25880" y="5029200"/>
            <a:ext cx="10058400" cy="114300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08760" y="52486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9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2834640" y="51937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construir soluções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2834640" y="56509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• atuadores • microcontroladores • integração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325880" y="5029200"/>
            <a:ext cx="109728" cy="114300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50589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73152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73152"/>
            <a:ext cx="116796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• O que você vai conseguir fazer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868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do componente, você será capaz de…</a:t>
            </a:r>
            <a:endParaRPr lang="en-US" sz="3400" dirty="0"/>
          </a:p>
        </p:txBody>
      </p:sp>
      <p:sp>
        <p:nvSpPr>
          <p:cNvPr id="44" name="Shape 42"/>
          <p:cNvSpPr/>
          <p:nvPr/>
        </p:nvSpPr>
        <p:spPr>
          <a:xfrm>
            <a:off x="822960" y="1828800"/>
            <a:ext cx="10972800" cy="448056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371600" y="2331720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71600" y="2322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828800" y="22768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protocolos e comunicação de dados (camadas e serviços)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1371600" y="3291840"/>
            <a:ext cx="347472" cy="347472"/>
          </a:xfrm>
          <a:prstGeom prst="ellipse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71600" y="3282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1828800" y="323697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 depurar tráfego de rede com ferramentas do sistema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1371600" y="4251960"/>
            <a:ext cx="347472" cy="3474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0" y="4242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1828800" y="419709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ameaças e aplicar mecanismos básicos de segurança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1371600" y="521208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0" y="5202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1828800" y="515721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protótipos IoT com sensores, atuadores e placa de coleta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82296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prática profissional e projeto.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50589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73152" cy="384048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73152"/>
            <a:ext cx="116796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• Metodologia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86868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trabalhar</a:t>
            </a:r>
            <a:endParaRPr lang="en-US" sz="4000" dirty="0"/>
          </a:p>
        </p:txBody>
      </p:sp>
      <p:sp>
        <p:nvSpPr>
          <p:cNvPr id="44" name="Shape 42"/>
          <p:cNvSpPr/>
          <p:nvPr/>
        </p:nvSpPr>
        <p:spPr>
          <a:xfrm>
            <a:off x="822960" y="1874520"/>
            <a:ext cx="3429000" cy="434340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2960" y="1874520"/>
            <a:ext cx="109728" cy="43434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21214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1152144" y="278892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práticas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e testes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 processo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343400" y="1874520"/>
            <a:ext cx="3429000" cy="434340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343400" y="1874520"/>
            <a:ext cx="109728" cy="4343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21214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4672584" y="278892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 / simuladores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antes do hardware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Iteração rápida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7863840" y="1874520"/>
            <a:ext cx="3429000" cy="434340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863840" y="1874520"/>
            <a:ext cx="109728" cy="434340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38160" y="21214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8193024" y="278892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semanais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com documentação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2296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entender antes de “copiar e colar”.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50589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73152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73152"/>
            <a:ext cx="116796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• Ferramentas e ambiente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868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que vamos usar</a:t>
            </a:r>
            <a:endParaRPr lang="en-US" sz="4000" dirty="0"/>
          </a:p>
        </p:txBody>
      </p:sp>
      <p:sp>
        <p:nvSpPr>
          <p:cNvPr id="44" name="Shape 42"/>
          <p:cNvSpPr/>
          <p:nvPr/>
        </p:nvSpPr>
        <p:spPr>
          <a:xfrm>
            <a:off x="822960" y="1874520"/>
            <a:ext cx="5577840" cy="438912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21031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Prototipação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1143000" y="265176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 (simulação)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• atuadores • placas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583680" y="1874520"/>
            <a:ext cx="5440680" cy="438912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858000" y="2103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/ Diagnóstico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6903720" y="265176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ipconfig / ping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tracert / nslookup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netstat / arp / route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1018520" y="6355080"/>
            <a:ext cx="502920" cy="502920"/>
          </a:xfrm>
          <a:prstGeom prst="roundRect">
            <a:avLst/>
          </a:prstGeom>
          <a:solidFill>
            <a:srgbClr val="0F1A2B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129162" y="6465722"/>
            <a:ext cx="281635" cy="281635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00E5FF">
                <a:alpha val="8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98987" y="6315852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98987" y="6836877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979292" y="6435547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500317" y="6435547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179454" y="6315852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79454" y="6836877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79292" y="6516014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00317" y="6516014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259922" y="6315852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259922" y="6836877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79292" y="6596482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00317" y="6596482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340389" y="6315852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340389" y="6836877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979292" y="6676949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500317" y="6676949"/>
            <a:ext cx="60350" cy="603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378440" y="6355080"/>
            <a:ext cx="502920" cy="502920"/>
          </a:xfrm>
          <a:prstGeom prst="roundRect">
            <a:avLst/>
          </a:prstGeom>
          <a:solidFill>
            <a:srgbClr val="0F1A2B"/>
          </a:solidFill>
          <a:ln w="25400">
            <a:solidFill>
              <a:srgbClr val="38D99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489082" y="6465722"/>
            <a:ext cx="281635" cy="281635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38D996">
                <a:alpha val="8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58907" y="6315852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58907" y="6836877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39212" y="6435547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860237" y="6435547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539374" y="6315852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539374" y="6836877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339212" y="6516014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860237" y="6516014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619842" y="6315852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619842" y="6836877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339212" y="6596482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860237" y="6596482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700309" y="6315852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700309" y="6836877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339212" y="6676949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860237" y="6676949"/>
            <a:ext cx="60350" cy="6035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50589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73152" cy="384048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73152"/>
            <a:ext cx="116796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• Projeto Integrador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8686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(exemplos)</a:t>
            </a:r>
            <a:endParaRPr lang="en-US" sz="4000" dirty="0"/>
          </a:p>
        </p:txBody>
      </p:sp>
      <p:sp>
        <p:nvSpPr>
          <p:cNvPr id="44" name="Shape 42"/>
          <p:cNvSpPr/>
          <p:nvPr/>
        </p:nvSpPr>
        <p:spPr>
          <a:xfrm>
            <a:off x="822960" y="1874520"/>
            <a:ext cx="11338560" cy="201168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34440" y="2240280"/>
            <a:ext cx="2331720" cy="1280160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34440" y="24231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3657600" y="2715768"/>
            <a:ext cx="320040" cy="329184"/>
          </a:xfrm>
          <a:prstGeom prst="chevron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69080" y="2240280"/>
            <a:ext cx="2331720" cy="1280160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38D9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9080" y="24231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(Arduino)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6492240" y="2715768"/>
            <a:ext cx="320040" cy="329184"/>
          </a:xfrm>
          <a:prstGeom prst="chevron">
            <a:avLst/>
          </a:prstGeom>
          <a:solidFill>
            <a:srgbClr val="38D996">
              <a:alpha val="70000"/>
            </a:srgbClr>
          </a:solidFill>
          <a:ln w="12700">
            <a:solidFill>
              <a:srgbClr val="38D996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03720" y="2240280"/>
            <a:ext cx="2331720" cy="1280160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24231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(Wi‑Fi/IP)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9326880" y="2715768"/>
            <a:ext cx="320040" cy="329184"/>
          </a:xfrm>
          <a:prstGeom prst="chevron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38360" y="2240280"/>
            <a:ext cx="2331720" cy="1280160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38360" y="24231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(Web/App)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822960" y="4160520"/>
            <a:ext cx="11338560" cy="205740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97280" y="44074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Ideias de projeto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1143000" y="4846320"/>
            <a:ext cx="10607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temperatura e alertas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Irrigação automatizada com leitura de umidade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com sensor e registro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simples (Web) para visualizar dados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150589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73152" cy="38404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73152"/>
            <a:ext cx="116796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• Segurança e ética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8686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não é “invadir”.</a:t>
            </a:r>
            <a:endParaRPr lang="en-US" sz="4000" dirty="0"/>
          </a:p>
        </p:txBody>
      </p:sp>
      <p:sp>
        <p:nvSpPr>
          <p:cNvPr id="44" name="Text 42"/>
          <p:cNvSpPr/>
          <p:nvPr/>
        </p:nvSpPr>
        <p:spPr>
          <a:xfrm>
            <a:off x="822960" y="1508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proteger pessoas, dados e sistemas.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822960" y="2286000"/>
            <a:ext cx="5577840" cy="384048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2960" y="2286000"/>
            <a:ext cx="109728" cy="38404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8992" y="254203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 (exemplos)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152144" y="3017520"/>
            <a:ext cx="5065776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Golpes e engenharia social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/ DDoS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de dados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583680" y="2286000"/>
            <a:ext cx="5577840" cy="384048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583680" y="2286000"/>
            <a:ext cx="109728" cy="384048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9712" y="254203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(básico)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912864" y="3017520"/>
            <a:ext cx="5065776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 filtragem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autorização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e hashing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e LGPD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109960" y="914400"/>
            <a:ext cx="868680" cy="868680"/>
          </a:xfrm>
          <a:prstGeom prst="ellipse">
            <a:avLst/>
          </a:prstGeom>
          <a:solidFill>
            <a:srgbClr val="FFB020">
              <a:alpha val="85000"/>
            </a:srgbClr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109960" y="93268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3400" dirty="0"/>
          </a:p>
        </p:txBody>
      </p:sp>
      <p:sp>
        <p:nvSpPr>
          <p:cNvPr id="55" name="Text 53"/>
          <p:cNvSpPr/>
          <p:nvPr/>
        </p:nvSpPr>
        <p:spPr>
          <a:xfrm>
            <a:off x="1150589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73152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73152"/>
            <a:ext cx="116796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• Conexão com o mercado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86868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aparece no mercado?</a:t>
            </a:r>
            <a:endParaRPr lang="en-US" sz="4000" dirty="0"/>
          </a:p>
        </p:txBody>
      </p:sp>
      <p:sp>
        <p:nvSpPr>
          <p:cNvPr id="44" name="Shape 42"/>
          <p:cNvSpPr/>
          <p:nvPr/>
        </p:nvSpPr>
        <p:spPr>
          <a:xfrm>
            <a:off x="822960" y="1874520"/>
            <a:ext cx="10972800" cy="438912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3000" y="2240280"/>
            <a:ext cx="5074920" cy="914400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71600" y="24231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/ Redes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371600" y="27432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• admin • NOC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720840" y="2240280"/>
            <a:ext cx="5074920" cy="914400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24231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949440" y="27432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• SOC • GRC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1143000" y="3566160"/>
            <a:ext cx="5074920" cy="914400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38D9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0" y="37490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Automação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1371600" y="40690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 • smart building • agricultura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720840" y="3566160"/>
            <a:ext cx="5074920" cy="914400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9440" y="37490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Observabilidade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6949440" y="40690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• pipelines • cloud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22960" y="63825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curso foca base sólida + prática: isso abre portas.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50589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73152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73152"/>
            <a:ext cx="116796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• Diagnóstico rápido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86868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 (5 min)</a:t>
            </a:r>
            <a:endParaRPr lang="en-US" sz="4000" dirty="0"/>
          </a:p>
        </p:txBody>
      </p:sp>
      <p:sp>
        <p:nvSpPr>
          <p:cNvPr id="44" name="Shape 42"/>
          <p:cNvSpPr/>
          <p:nvPr/>
        </p:nvSpPr>
        <p:spPr>
          <a:xfrm>
            <a:off x="822960" y="1920240"/>
            <a:ext cx="11338560" cy="438912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331720"/>
            <a:ext cx="107899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04800" indent="-304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Internet (em 1 frase)?</a:t>
            </a:r>
            <a:endParaRPr lang="en-US" sz="2200" dirty="0"/>
          </a:p>
          <a:p>
            <a:pPr marL="304800" indent="-304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endereço IP?</a:t>
            </a:r>
            <a:endParaRPr lang="en-US" sz="2200" dirty="0"/>
          </a:p>
          <a:p>
            <a:pPr marL="304800" indent="-304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IoT? Cite um exemplo.</a:t>
            </a:r>
            <a:endParaRPr lang="en-US" sz="2200" dirty="0"/>
          </a:p>
          <a:p>
            <a:pPr marL="304800" indent="-304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programou? Em qual linguagem?</a:t>
            </a:r>
            <a:endParaRPr lang="en-US" sz="2200" dirty="0"/>
          </a:p>
          <a:p>
            <a:pPr marL="304800" indent="-304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entende por “segurança da informação”?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143000" y="5897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calibrar o ritmo da turma.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50589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0" y="0"/>
            <a:ext cx="0" cy="685800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6916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2062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720840"/>
            <a:ext cx="12191695" cy="0"/>
          </a:xfrm>
          <a:prstGeom prst="line">
            <a:avLst/>
          </a:prstGeom>
          <a:noFill/>
          <a:ln w="12700">
            <a:solidFill>
              <a:srgbClr val="1B2A44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73152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73152"/>
            <a:ext cx="1167963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86868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4400" dirty="0"/>
          </a:p>
        </p:txBody>
      </p:sp>
      <p:sp>
        <p:nvSpPr>
          <p:cNvPr id="44" name="Shape 42"/>
          <p:cNvSpPr/>
          <p:nvPr/>
        </p:nvSpPr>
        <p:spPr>
          <a:xfrm>
            <a:off x="822960" y="1920240"/>
            <a:ext cx="11338560" cy="2971800"/>
          </a:xfrm>
          <a:prstGeom prst="roundRect">
            <a:avLst/>
          </a:prstGeom>
          <a:solidFill>
            <a:srgbClr val="0F1A2B"/>
          </a:solidFill>
          <a:ln w="12700">
            <a:solidFill>
              <a:srgbClr val="233556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143000" y="2331720"/>
            <a:ext cx="1078992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04800" indent="-304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o ambiente de trabalho (PC / conta / pasta do projeto)</a:t>
            </a:r>
            <a:endParaRPr lang="en-US" sz="2200" dirty="0"/>
          </a:p>
          <a:p>
            <a:pPr marL="304800" indent="-304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rápida: o que é Internet, IP, protocolo</a:t>
            </a:r>
            <a:endParaRPr lang="en-US" sz="2200" dirty="0"/>
          </a:p>
          <a:p>
            <a:pPr marL="304800" indent="-304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laboratório: ferramentas de rede (ping, tracert, nslookup)</a:t>
            </a:r>
            <a:endParaRPr lang="en-US" sz="2200" dirty="0"/>
          </a:p>
          <a:p>
            <a:pPr marL="304800" indent="-304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simulação IoT no Tinkercad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822960" y="5166360"/>
            <a:ext cx="11338560" cy="1097280"/>
          </a:xfrm>
          <a:prstGeom prst="roundRect">
            <a:avLst/>
          </a:prstGeom>
          <a:solidFill>
            <a:srgbClr val="0B1220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43000" y="5394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“Base forte + prática = autonomia profissional.”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8778240" y="5769864"/>
            <a:ext cx="438912" cy="297180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17152" y="6067044"/>
            <a:ext cx="-292608" cy="320954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78240" y="5769864"/>
            <a:ext cx="804672" cy="-23774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82912" y="5746090"/>
            <a:ext cx="438912" cy="261518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21824" y="6007608"/>
            <a:ext cx="-219456" cy="356616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82912" y="5746090"/>
            <a:ext cx="950976" cy="47549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533888" y="5793638"/>
            <a:ext cx="438912" cy="237744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972800" y="6031382"/>
            <a:ext cx="-292608" cy="356616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972800" y="6031382"/>
            <a:ext cx="438912" cy="-142646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411712" y="5888736"/>
            <a:ext cx="292608" cy="297180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680192" y="6387998"/>
            <a:ext cx="585216" cy="71323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802368" y="6364224"/>
            <a:ext cx="877824" cy="23774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21824" y="6007608"/>
            <a:ext cx="950976" cy="23774"/>
          </a:xfrm>
          <a:prstGeom prst="line">
            <a:avLst/>
          </a:prstGeom>
          <a:noFill/>
          <a:ln w="254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68512" y="5660136"/>
            <a:ext cx="219456" cy="219456"/>
          </a:xfrm>
          <a:prstGeom prst="ellipse">
            <a:avLst/>
          </a:prstGeom>
          <a:solidFill>
            <a:srgbClr val="00E5FF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134856" y="5984748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842248" y="6305702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473184" y="5636362"/>
            <a:ext cx="219456" cy="219456"/>
          </a:xfrm>
          <a:prstGeom prst="ellipse">
            <a:avLst/>
          </a:prstGeom>
          <a:solidFill>
            <a:srgbClr val="00E5FF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939528" y="5925312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9720072" y="6281928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0424160" y="5683910"/>
            <a:ext cx="219456" cy="219456"/>
          </a:xfrm>
          <a:prstGeom prst="ellipse">
            <a:avLst/>
          </a:prstGeom>
          <a:solidFill>
            <a:srgbClr val="00E5FF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0890504" y="5949086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0597896" y="6305702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1301984" y="5779008"/>
            <a:ext cx="219456" cy="219456"/>
          </a:xfrm>
          <a:prstGeom prst="ellipse">
            <a:avLst/>
          </a:prstGeom>
          <a:solidFill>
            <a:srgbClr val="00E5FF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1622024" y="6103620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1183112" y="6377026"/>
            <a:ext cx="164592" cy="164592"/>
          </a:xfrm>
          <a:prstGeom prst="ellipse">
            <a:avLst/>
          </a:prstGeom>
          <a:solidFill>
            <a:srgbClr val="0F1A2B"/>
          </a:solidFill>
          <a:ln w="25400">
            <a:solidFill>
              <a:srgbClr val="00E5FF">
                <a:alpha val="65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1150589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Centro Paula Souza (modelo didático)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IoT, Redes e Segurança</dc:title>
  <dc:subject>Aula 1 – Visão Geral</dc:subject>
  <dc:creator>Prof. Márcio Barros</dc:creator>
  <cp:lastModifiedBy>Prof. Márcio Barros</cp:lastModifiedBy>
  <cp:revision>1</cp:revision>
  <dcterms:created xsi:type="dcterms:W3CDTF">2026-02-11T16:51:42Z</dcterms:created>
  <dcterms:modified xsi:type="dcterms:W3CDTF">2026-02-11T16:51:42Z</dcterms:modified>
</cp:coreProperties>
</file>